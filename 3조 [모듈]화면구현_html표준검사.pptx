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4"/>
  </p:notesMasterIdLst>
  <p:sldIdLst>
    <p:sldId id="290" r:id="rId2"/>
    <p:sldId id="291" r:id="rId3"/>
  </p:sld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202C"/>
    <a:srgbClr val="29344A"/>
    <a:srgbClr val="4F535B"/>
    <a:srgbClr val="7F7F7F"/>
    <a:srgbClr val="676767"/>
    <a:srgbClr val="232933"/>
    <a:srgbClr val="74CD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90" autoAdjust="0"/>
    <p:restoredTop sz="96353" autoAdjust="0"/>
  </p:normalViewPr>
  <p:slideViewPr>
    <p:cSldViewPr snapToGrid="0" snapToObjects="1">
      <p:cViewPr varScale="1">
        <p:scale>
          <a:sx n="58" d="100"/>
          <a:sy n="58" d="100"/>
        </p:scale>
        <p:origin x="696" y="-17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283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381E-432E-5A4C-42E6-3552C1B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C33D-F08A-BB69-747E-813B86BEF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2DD2C-08EF-98BC-331B-51159C94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E2C5-62A2-0254-1763-E11D5BF54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7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381E-432E-5A4C-42E6-3552C1BF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EC33D-F08A-BB69-747E-813B86BEF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2DD2C-08EF-98BC-331B-51159C947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FE2C5-62A2-0254-1763-E11D5BF54B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54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840567"/>
            <a:ext cx="103632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5181600"/>
            <a:ext cx="85344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2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0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5875867"/>
            <a:ext cx="10363200" cy="1816100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3875618"/>
            <a:ext cx="10363200" cy="2000249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45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133601"/>
            <a:ext cx="5384800" cy="6034617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9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46817"/>
            <a:ext cx="5386917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899833"/>
            <a:ext cx="5386917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2046817"/>
            <a:ext cx="5389033" cy="853016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899833"/>
            <a:ext cx="5389033" cy="5268384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2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53241B7-1BA1-496E-9033-B34E577E03A5}"/>
              </a:ext>
            </a:extLst>
          </p:cNvPr>
          <p:cNvSpPr/>
          <p:nvPr userDrawn="1"/>
        </p:nvSpPr>
        <p:spPr>
          <a:xfrm>
            <a:off x="638293" y="12871659"/>
            <a:ext cx="1060372" cy="1719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fld id="{677293F7-A825-46ED-9F4F-D9FDFDB99FAF}" type="slidenum">
              <a:rPr lang="en-US" altLang="ko-KR" sz="3200" b="1" smtClean="0">
                <a:solidFill>
                  <a:srgbClr val="1A202C"/>
                </a:solidFill>
                <a:latin typeface="+mn-ea"/>
              </a:rPr>
              <a:t>‹#›</a:t>
            </a:fld>
            <a:endParaRPr lang="ko-KR" altLang="en-US" sz="3200" b="1" dirty="0">
              <a:solidFill>
                <a:srgbClr val="1A202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9892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64067"/>
            <a:ext cx="4011084" cy="154940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364067"/>
            <a:ext cx="6815667" cy="78041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913467"/>
            <a:ext cx="4011084" cy="6254751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778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6400800"/>
            <a:ext cx="7315200" cy="7556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817033"/>
            <a:ext cx="7315200" cy="54864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7156451"/>
            <a:ext cx="7315200" cy="1073149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80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899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366185"/>
            <a:ext cx="274320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66185"/>
            <a:ext cx="802640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709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34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6184"/>
            <a:ext cx="109728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133601"/>
            <a:ext cx="109728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8475134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8475134"/>
            <a:ext cx="284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9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7C56-300A-17ED-33B5-BF1C4D1B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499BD6B6-2335-C559-1793-44A0D545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8" y="624858"/>
            <a:ext cx="2782570" cy="827632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C91609E-65DA-635C-EA51-641AC494C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3286" y="732264"/>
            <a:ext cx="5312410" cy="694143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116A31-4BDF-F5AE-C384-D85503CEFF3B}"/>
              </a:ext>
            </a:extLst>
          </p:cNvPr>
          <p:cNvSpPr/>
          <p:nvPr/>
        </p:nvSpPr>
        <p:spPr>
          <a:xfrm>
            <a:off x="-101600" y="-170024"/>
            <a:ext cx="25011529" cy="13991681"/>
          </a:xfrm>
          <a:prstGeom prst="rect">
            <a:avLst/>
          </a:prstGeom>
          <a:solidFill>
            <a:srgbClr val="1A20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    </a:t>
            </a:r>
            <a:endParaRPr lang="ko-KR" altLang="en-US" sz="4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468BA22-3BD1-0AC4-0795-8D77550EEC52}"/>
              </a:ext>
            </a:extLst>
          </p:cNvPr>
          <p:cNvGrpSpPr/>
          <p:nvPr/>
        </p:nvGrpSpPr>
        <p:grpSpPr>
          <a:xfrm>
            <a:off x="-648067" y="-170024"/>
            <a:ext cx="25680134" cy="3023324"/>
            <a:chOff x="-611040" y="11489982"/>
            <a:chExt cx="25041517" cy="302332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6B4BDE1-50F5-D9DE-3357-F7E6C5841312}"/>
                </a:ext>
              </a:extLst>
            </p:cNvPr>
            <p:cNvSpPr/>
            <p:nvPr/>
          </p:nvSpPr>
          <p:spPr>
            <a:xfrm>
              <a:off x="-611040" y="11489982"/>
              <a:ext cx="25041517" cy="302332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Html </a:t>
              </a:r>
              <a:r>
                <a:rPr kumimoji="0" lang="ko-KR" altLang="en-US" sz="90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표준검사오류</a:t>
              </a: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1DF70C4-9030-4940-86AD-A29DD4D653E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817" y="12180880"/>
              <a:ext cx="1641527" cy="1641527"/>
            </a:xfrm>
            <a:prstGeom prst="rect">
              <a:avLst/>
            </a:prstGeom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70A1DD-9552-A840-3DE0-F15EC9E34363}"/>
              </a:ext>
            </a:extLst>
          </p:cNvPr>
          <p:cNvSpPr/>
          <p:nvPr/>
        </p:nvSpPr>
        <p:spPr>
          <a:xfrm>
            <a:off x="22597766" y="13028411"/>
            <a:ext cx="1060372" cy="1719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3200" b="1" dirty="0">
                <a:solidFill>
                  <a:srgbClr val="1A202C"/>
                </a:solidFill>
                <a:latin typeface="+mn-ea"/>
              </a:rPr>
              <a:t>0</a:t>
            </a:r>
            <a:endParaRPr lang="ko-KR" altLang="en-US" sz="3200" b="1" dirty="0">
              <a:solidFill>
                <a:srgbClr val="1A202C"/>
              </a:solidFill>
              <a:latin typeface="+mn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90AA5D-D557-4659-A10C-408C31315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0303" y="3091478"/>
            <a:ext cx="6860992" cy="1046201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B12858D-ECD8-E123-542A-4A7A9A977028}"/>
              </a:ext>
            </a:extLst>
          </p:cNvPr>
          <p:cNvSpPr/>
          <p:nvPr/>
        </p:nvSpPr>
        <p:spPr>
          <a:xfrm>
            <a:off x="2480304" y="3075238"/>
            <a:ext cx="6860992" cy="376652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45350F7-FCA3-25CA-AD4F-201C11C1E807}"/>
              </a:ext>
            </a:extLst>
          </p:cNvPr>
          <p:cNvSpPr/>
          <p:nvPr/>
        </p:nvSpPr>
        <p:spPr>
          <a:xfrm>
            <a:off x="2480303" y="6841759"/>
            <a:ext cx="6860993" cy="291183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FB887E-0181-5557-4BEB-77BFCA083B84}"/>
              </a:ext>
            </a:extLst>
          </p:cNvPr>
          <p:cNvSpPr txBox="1"/>
          <p:nvPr/>
        </p:nvSpPr>
        <p:spPr>
          <a:xfrm>
            <a:off x="11677491" y="3091479"/>
            <a:ext cx="8854821" cy="1043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 구조 오류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&lt;head&gt;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영역 외부에 있는 속성들 존재함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&lt;button&gt;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안에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&lt;a&gt;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태그존재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				   - &lt;button&gt;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내부에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a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태그를 넣어 기능이 중복됨 기능중복이 좋지 않아 둘 중 하나만 사용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</a:t>
            </a:r>
            <a:r>
              <a:rPr lang="en-US" altLang="ko-KR" sz="2800" dirty="0" err="1">
                <a:solidFill>
                  <a:schemeClr val="bg1"/>
                </a:solidFill>
                <a:latin typeface="+mn-ea"/>
              </a:rPr>
              <a:t>Img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태그의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alt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속성이 비어 있음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			   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접근설을 위해 적절한 설명을 입력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&lt;html&gt;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 내에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&lt;body&gt;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와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&lt;head&gt;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외 요소존재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– 1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번의 내용과 동일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오타 및 띄어쓰기 등 오류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				          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맞춤법에 오류가 있어 수정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95F6E3-EFD2-97B1-DD7B-035D90741B29}"/>
              </a:ext>
            </a:extLst>
          </p:cNvPr>
          <p:cNvSpPr/>
          <p:nvPr/>
        </p:nvSpPr>
        <p:spPr>
          <a:xfrm>
            <a:off x="2480304" y="10392227"/>
            <a:ext cx="6860991" cy="6241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AE76F87-0799-48F7-B9C2-87FE3A9388CF}"/>
              </a:ext>
            </a:extLst>
          </p:cNvPr>
          <p:cNvSpPr/>
          <p:nvPr/>
        </p:nvSpPr>
        <p:spPr>
          <a:xfrm>
            <a:off x="2480303" y="9753598"/>
            <a:ext cx="6860991" cy="63862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952356-8160-44C8-821D-C2FC96A41606}"/>
              </a:ext>
            </a:extLst>
          </p:cNvPr>
          <p:cNvSpPr/>
          <p:nvPr/>
        </p:nvSpPr>
        <p:spPr>
          <a:xfrm>
            <a:off x="2480304" y="11016342"/>
            <a:ext cx="6853310" cy="100148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FC5748E-39E7-405A-9CBD-3B43295BDA43}"/>
              </a:ext>
            </a:extLst>
          </p:cNvPr>
          <p:cNvSpPr/>
          <p:nvPr/>
        </p:nvSpPr>
        <p:spPr>
          <a:xfrm>
            <a:off x="2480304" y="12014975"/>
            <a:ext cx="6860992" cy="15385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48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7C56-300A-17ED-33B5-BF1C4D1B8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499BD6B6-2335-C559-1793-44A0D545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638" y="624858"/>
            <a:ext cx="2782570" cy="827632"/>
          </a:xfrm>
          <a:prstGeom prst="rect">
            <a:avLst/>
          </a:prstGeom>
        </p:spPr>
      </p:pic>
      <p:pic>
        <p:nvPicPr>
          <p:cNvPr id="23" name="Image 21" descr="preencoded.png">
            <a:extLst>
              <a:ext uri="{FF2B5EF4-FFF2-40B4-BE49-F238E27FC236}">
                <a16:creationId xmlns:a16="http://schemas.microsoft.com/office/drawing/2014/main" id="{FC91609E-65DA-635C-EA51-641AC494C6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63286" y="732264"/>
            <a:ext cx="5312410" cy="694143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116A31-4BDF-F5AE-C384-D85503CEFF3B}"/>
              </a:ext>
            </a:extLst>
          </p:cNvPr>
          <p:cNvSpPr/>
          <p:nvPr/>
        </p:nvSpPr>
        <p:spPr>
          <a:xfrm>
            <a:off x="-101600" y="-170024"/>
            <a:ext cx="25011529" cy="13991681"/>
          </a:xfrm>
          <a:prstGeom prst="rect">
            <a:avLst/>
          </a:prstGeom>
          <a:solidFill>
            <a:srgbClr val="1A202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en-US" altLang="ko-KR" sz="4400" dirty="0">
                <a:solidFill>
                  <a:schemeClr val="bg1"/>
                </a:solidFill>
                <a:latin typeface="+mj-ea"/>
                <a:ea typeface="+mj-ea"/>
              </a:rPr>
              <a:t>    </a:t>
            </a:r>
            <a:endParaRPr lang="ko-KR" altLang="en-US" sz="44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468BA22-3BD1-0AC4-0795-8D77550EEC52}"/>
              </a:ext>
            </a:extLst>
          </p:cNvPr>
          <p:cNvGrpSpPr/>
          <p:nvPr/>
        </p:nvGrpSpPr>
        <p:grpSpPr>
          <a:xfrm>
            <a:off x="-648067" y="-170024"/>
            <a:ext cx="25680134" cy="3023324"/>
            <a:chOff x="-611040" y="11489982"/>
            <a:chExt cx="25041517" cy="302332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6B4BDE1-50F5-D9DE-3357-F7E6C5841312}"/>
                </a:ext>
              </a:extLst>
            </p:cNvPr>
            <p:cNvSpPr/>
            <p:nvPr/>
          </p:nvSpPr>
          <p:spPr>
            <a:xfrm>
              <a:off x="-611040" y="11489982"/>
              <a:ext cx="25041517" cy="302332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0" b="1" i="0" u="none" strike="noStrike" kern="0" cap="none" spc="0" normalizeH="0" baseline="0" noProof="0" dirty="0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Html </a:t>
              </a:r>
              <a:r>
                <a:rPr kumimoji="0" lang="ko-KR" altLang="en-US" sz="90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1A202C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</a:rPr>
                <a:t>표준검사오류해결</a:t>
              </a:r>
              <a:endParaRPr kumimoji="0" lang="ko-KR" altLang="en-US" sz="9000" b="1" i="0" u="none" strike="noStrike" kern="0" cap="none" spc="0" normalizeH="0" baseline="0" noProof="0" dirty="0">
                <a:ln>
                  <a:noFill/>
                </a:ln>
                <a:solidFill>
                  <a:srgbClr val="1A202C"/>
                </a:solidFill>
                <a:effectLst/>
                <a:uLnTx/>
                <a:uFillTx/>
                <a:latin typeface="+mj-ea"/>
                <a:ea typeface="+mj-ea"/>
                <a:cs typeface="+mn-cs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1DF70C4-9030-4940-86AD-A29DD4D653E5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3817" y="12180880"/>
              <a:ext cx="1641527" cy="1641527"/>
            </a:xfrm>
            <a:prstGeom prst="rect">
              <a:avLst/>
            </a:prstGeom>
          </p:spPr>
        </p:pic>
      </p:grp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270A1DD-9552-A840-3DE0-F15EC9E34363}"/>
              </a:ext>
            </a:extLst>
          </p:cNvPr>
          <p:cNvSpPr/>
          <p:nvPr/>
        </p:nvSpPr>
        <p:spPr>
          <a:xfrm>
            <a:off x="22597766" y="13028411"/>
            <a:ext cx="1060372" cy="17194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3200" b="1" dirty="0">
                <a:solidFill>
                  <a:srgbClr val="1A202C"/>
                </a:solidFill>
                <a:latin typeface="+mn-ea"/>
              </a:rPr>
              <a:t>0</a:t>
            </a:r>
            <a:endParaRPr lang="ko-KR" altLang="en-US" sz="3200" b="1" dirty="0">
              <a:solidFill>
                <a:srgbClr val="1A202C"/>
              </a:solidFill>
              <a:latin typeface="+mn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FB887E-0181-5557-4BEB-77BFCA083B84}"/>
              </a:ext>
            </a:extLst>
          </p:cNvPr>
          <p:cNvSpPr txBox="1"/>
          <p:nvPr/>
        </p:nvSpPr>
        <p:spPr>
          <a:xfrm>
            <a:off x="11688767" y="3055661"/>
            <a:ext cx="8854821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 구조 오류</a:t>
            </a:r>
            <a:br>
              <a:rPr lang="en-US" altLang="ko-KR" sz="2800" dirty="0">
                <a:solidFill>
                  <a:schemeClr val="bg1"/>
                </a:solidFill>
                <a:latin typeface="+mn-ea"/>
              </a:rPr>
            </a:b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- &lt;head&gt;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영역 외부에 있는 속성들을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head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내부에 적절히 재배치함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&lt;button&gt;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안에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&lt;a&gt;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태그존재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				   - &lt;button&gt;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에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type button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을 지정해 링크를 걸고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a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태그는 제거함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0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</a:t>
            </a:r>
            <a:r>
              <a:rPr lang="en-US" altLang="ko-KR" sz="2800" dirty="0" err="1">
                <a:solidFill>
                  <a:schemeClr val="bg1"/>
                </a:solidFill>
                <a:latin typeface="+mn-ea"/>
              </a:rPr>
              <a:t>Img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태그의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alt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속성이 비어 있음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			   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아직 구현되지않은 부분이라 불필요 하다 생각해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생략함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이후 필요시 구현 예정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)</a:t>
            </a: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&lt;html&gt;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태그 내에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&lt;body&gt;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와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&lt;head&gt;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외 요소존재 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– 1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번의 내용과 동일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endParaRPr lang="en-US" altLang="ko-KR" sz="2800" dirty="0">
              <a:solidFill>
                <a:schemeClr val="bg1"/>
              </a:solidFill>
              <a:latin typeface="+mn-ea"/>
            </a:endParaRPr>
          </a:p>
          <a:p>
            <a:pPr marL="457200" indent="-457200">
              <a:buAutoNum type="arabicPeriod"/>
            </a:pP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오타 및 띄어쓰기 등 오류</a:t>
            </a:r>
            <a:r>
              <a:rPr lang="en-US" altLang="ko-KR" sz="2800" dirty="0">
                <a:solidFill>
                  <a:schemeClr val="bg1"/>
                </a:solidFill>
                <a:latin typeface="+mn-ea"/>
              </a:rPr>
              <a:t>				          - </a:t>
            </a:r>
            <a:r>
              <a:rPr lang="ko-KR" altLang="en-US" sz="2800" dirty="0">
                <a:solidFill>
                  <a:schemeClr val="bg1"/>
                </a:solidFill>
                <a:latin typeface="+mn-ea"/>
              </a:rPr>
              <a:t>맞춤법 검사를 실행하여 오타 및 띄어쓰기 수정함</a:t>
            </a:r>
            <a:endParaRPr lang="en-US" altLang="ko-KR" sz="28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6920424-31FE-4461-B410-357ED24B93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56" y="6091768"/>
            <a:ext cx="10275455" cy="7864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AB02C21-C919-4E15-96F2-D1A447ADFB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498" y="3055661"/>
            <a:ext cx="6066813" cy="275638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0A4CA15-1EB7-4145-8D0C-00FB4E74D8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4258" y="8411541"/>
            <a:ext cx="3817054" cy="136680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73AD4A9-A2DE-45CB-91C5-2AB616B83A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6321" y="11406776"/>
            <a:ext cx="3164990" cy="78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294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211</Words>
  <Application>Microsoft Office PowerPoint</Application>
  <PresentationFormat>사용자 지정</PresentationFormat>
  <Paragraphs>40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1_Office Theme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64</cp:revision>
  <dcterms:created xsi:type="dcterms:W3CDTF">2025-07-10T04:24:41Z</dcterms:created>
  <dcterms:modified xsi:type="dcterms:W3CDTF">2025-07-24T02:47:54Z</dcterms:modified>
</cp:coreProperties>
</file>